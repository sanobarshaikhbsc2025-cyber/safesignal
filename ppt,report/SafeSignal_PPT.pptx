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One line: this project finds drug side-effects that patients mention on health forums, using 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trials are small and short. Patients keep posting about side-effects on forums. SafeSignal reads those posts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arrows: a post goes in, the NER model tags the drug and the side-effect words, and the output is flagged text. Use the Lipitor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CADEC, 1,250 forum posts. 1,000 for training, 250 for testing. Model: spaCy NER trained from scratch for 20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 0.91 is strong. ADR 0.65 is okay. Disease 0.18 is weak, most likely because there are few Disease examples in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key audit finding. I split the test posts into formal and informal. Disease went from 0.26 to 0.00 and Drug dropped 8 points. The informal group is small, so treat it as a warning sign, not an exact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limitation: it struggles on informal language, and it misses drugs it never saw in training, like Dolo. Next steps: more data and a BioBERT model. Then ask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_deck/assets/pulse_faint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5943600" y="5212080"/>
            <a:ext cx="731520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SAFESIGNAL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0574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Catching Hidden Drug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Side-Effects in Patient Words</a:t>
            </a:r>
            <a:endParaRPr lang="en-US" sz="4200" dirty="0"/>
          </a:p>
        </p:txBody>
      </p:sp>
      <p:pic>
        <p:nvPicPr>
          <p:cNvPr id="5" name="Image 1" descr="/home/claude/pitch_deck/assets/pul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794760"/>
            <a:ext cx="2377440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1605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early-warning system for Adverse Drug Reactions clinical trials never caught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Sanobar Latif Shaikh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25030421039   |   BSc AI — NLP   |   CA3: Build–Audit–Pitch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clinical trials never see</a:t>
            </a:r>
            <a:endParaRPr lang="en-US" sz="3200" dirty="0"/>
          </a:p>
        </p:txBody>
      </p:sp>
      <p:pic>
        <p:nvPicPr>
          <p:cNvPr id="4" name="Image 0" descr="/home/claude/pitch_deck/assets/pul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82880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057400"/>
            <a:ext cx="621792" cy="62179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6" name="Image 1" descr="/home/claude/pitch_deck/icons/file_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03704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72768" y="202082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Trials can't catch everything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72768" y="23865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run on limited people for limited time — many side-effects surface only once a drug reaches the real world.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621792" cy="62179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0" name="Image 2" descr="/home/claude/pitch_deck/icons/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21024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72768" y="343814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Patients report them anyway — informally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572768" y="38039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post about their side-effects on health forums every day, in their own words. This data is rarely mined.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892040"/>
            <a:ext cx="621792" cy="621792"/>
          </a:xfrm>
          <a:prstGeom prst="ellipse">
            <a:avLst/>
          </a:prstGeom>
          <a:solidFill>
            <a:srgbClr val="153F38"/>
          </a:solidFill>
          <a:ln/>
        </p:spPr>
      </p:sp>
      <p:pic>
        <p:nvPicPr>
          <p:cNvPr id="14" name="Image 3" descr="/home/claude/pitch_deck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03834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72768" y="48554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goal of SafeSignal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572768" y="522122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Drug, Adverse Reaction, Disease, Symptom &amp; Finding mentions in patient text — an NLP-based early warning system.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= tracking drug safety after a drug is already on the market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patient text to flagged risk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103120"/>
            <a:ext cx="731520" cy="731520"/>
          </a:xfrm>
          <a:prstGeom prst="ellipse">
            <a:avLst/>
          </a:prstGeom>
          <a:solidFill>
            <a:srgbClr val="153F38"/>
          </a:solidFill>
          <a:ln/>
        </p:spPr>
      </p:sp>
      <p:pic>
        <p:nvPicPr>
          <p:cNvPr id="6" name="Image 0" descr="/home/claude/pitch_deck/icons/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971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POST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forum text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00700" y="2103120"/>
            <a:ext cx="731520" cy="731520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11" name="Image 1" descr="/home/claude/pitch_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971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MODEL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spaCy, trained on CADEC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3880" y="178308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9740" y="2103120"/>
            <a:ext cx="731520" cy="7315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/home/claude/pitch_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9718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OUTPUT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flagged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794760" y="2450592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0" name="Image 3" descr="/home/claude/pitch_deck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551176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543800" y="2450592"/>
            <a:ext cx="402336" cy="402336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2" name="Image 4" descr="/home/claude/pitch_deck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2551176"/>
            <a:ext cx="201168" cy="20116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0080" y="3794760"/>
            <a:ext cx="10607040" cy="2331720"/>
          </a:xfrm>
          <a:prstGeom prst="roundRect">
            <a:avLst>
              <a:gd name="adj" fmla="val 4706"/>
            </a:avLst>
          </a:prstGeom>
          <a:solidFill>
            <a:srgbClr val="0B1210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96012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960120" y="4434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D8E5E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"I took </a:t>
            </a:r>
            <a:pPr indent="0" marL="0">
              <a:lnSpc>
                <a:spcPts val="2800"/>
              </a:lnSpc>
              <a:buNone/>
            </a:pPr>
            <a:r>
              <a:rPr lang="en-US" sz="22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Lipitor</a:t>
            </a:r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D8E5E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and started having </a:t>
            </a:r>
            <a:pPr indent="0" marL="0">
              <a:lnSpc>
                <a:spcPts val="2800"/>
              </a:lnSpc>
              <a:buNone/>
            </a:pPr>
            <a:r>
              <a:rPr lang="en-US" sz="2200" b="1" i="1" dirty="0">
                <a:solidFill>
                  <a:srgbClr val="C15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severe muscle pain</a:t>
            </a:r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D8E5E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and </a:t>
            </a:r>
            <a:pPr indent="0" marL="0">
              <a:lnSpc>
                <a:spcPts val="2800"/>
              </a:lnSpc>
              <a:buNone/>
            </a:pPr>
            <a:r>
              <a:rPr lang="en-US" sz="2200" b="1" i="1" dirty="0">
                <a:solidFill>
                  <a:srgbClr val="C15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memory problems</a:t>
            </a:r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D8E5E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."</a:t>
            </a:r>
            <a:endParaRPr lang="en-US" sz="2200" dirty="0"/>
          </a:p>
        </p:txBody>
      </p:sp>
      <p:sp>
        <p:nvSpPr>
          <p:cNvPr id="26" name="Shape 19"/>
          <p:cNvSpPr/>
          <p:nvPr/>
        </p:nvSpPr>
        <p:spPr>
          <a:xfrm>
            <a:off x="960120" y="5440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C9A24B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1325880" y="5413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2322576" y="5440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C1533D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2688336" y="5413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Reaction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60120" y="5806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unstructured patient text and automatically labels drug names and side-effects, so a reviewer can scan flagged posts faster.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Build: data, model, entities</a:t>
            </a:r>
            <a:endParaRPr lang="en-US" sz="3200" dirty="0"/>
          </a:p>
        </p:txBody>
      </p:sp>
      <p:pic>
        <p:nvPicPr>
          <p:cNvPr id="4" name="Image 0" descr="/home/claude/pitch_deck/assets/pul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82880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6596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153F38"/>
          </a:solidFill>
          <a:ln/>
        </p:spPr>
      </p:sp>
      <p:pic>
        <p:nvPicPr>
          <p:cNvPr id="7" name="Image 1" descr="/home/claude/pitch_deck/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368296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CADEC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CSIRO Adverse Drug Event Corpus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60120" y="36850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8872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1,250 real patient forum posts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60120" y="41422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88720" y="4069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different drugs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60120" y="45994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18872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annotated: Drug, ADR, Disease, Symptom, Finding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60120" y="5056632"/>
            <a:ext cx="82296" cy="8229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88720" y="4983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train / 250 test split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989320" y="1965960"/>
            <a:ext cx="5532120" cy="4114800"/>
          </a:xfrm>
          <a:prstGeom prst="roundRect">
            <a:avLst>
              <a:gd name="adj" fmla="val 2667"/>
            </a:avLst>
          </a:prstGeom>
          <a:solidFill>
            <a:srgbClr val="153F38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224028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2" descr="/home/claude/pitch_deck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829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4088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spaCy NER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model, trained from scratch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detected: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09360" y="3977640"/>
            <a:ext cx="905256" cy="365760"/>
          </a:xfrm>
          <a:prstGeom prst="roundRect">
            <a:avLst>
              <a:gd name="adj" fmla="val 50000"/>
            </a:avLst>
          </a:prstGeom>
          <a:solidFill>
            <a:srgbClr val="0F2E29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309360" y="3977640"/>
            <a:ext cx="905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379208" y="39776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0F2E2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79208" y="397764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348472" y="397764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0F2E29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348472" y="3977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720072" y="397764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0F2E29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9720072" y="39776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309360" y="4434840"/>
            <a:ext cx="1207008" cy="365760"/>
          </a:xfrm>
          <a:prstGeom prst="roundRect">
            <a:avLst>
              <a:gd name="adj" fmla="val 50000"/>
            </a:avLst>
          </a:prstGeom>
          <a:solidFill>
            <a:srgbClr val="0F2E29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309360" y="4434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630936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training epochs  •  loss reduced 12,254 → 3,137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Strong on key entities, weaker on rare ones</a:t>
            </a:r>
            <a:endParaRPr lang="en-US" sz="3000" dirty="0"/>
          </a:p>
        </p:txBody>
      </p:sp>
      <p:pic>
        <p:nvPicPr>
          <p:cNvPr id="4" name="Image 0" descr="/home/claude/pitch_deck/assets/pul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82880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0574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F8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0.91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F1-score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entity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0574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34340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0.65</a:t>
            </a:r>
            <a:endParaRPr lang="en-US" sz="58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F1-score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 target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20574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046720" y="2331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15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0.18</a:t>
            </a:r>
            <a:endParaRPr lang="en-US" sz="5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F1-score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class imbalance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166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scores on Disease, Symptom &amp; Finding likely reflect fewer training examples for those labels (class imbalance).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1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AUDIT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model breaks down on informal language</a:t>
            </a:r>
            <a:endParaRPr lang="en-US" sz="3000" dirty="0"/>
          </a:p>
        </p:txBody>
      </p:sp>
      <p:pic>
        <p:nvPicPr>
          <p:cNvPr id="4" name="Image 0" descr="/home/claude/pitch_deck/assets/pul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82880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6596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502920" cy="502920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7" name="Image 1" descr="/home/claude/pitch_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359152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TEXT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578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written posts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063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F8A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0.26</a:t>
            </a:r>
            <a:endParaRPr lang="en-US" sz="50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F1-score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F1-score: 0.92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0760" y="1965960"/>
            <a:ext cx="52120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C1533D"/>
          </a:solidFill>
          <a:ln/>
        </p:spPr>
      </p:sp>
      <p:pic>
        <p:nvPicPr>
          <p:cNvPr id="15" name="Image 2" descr="/home/claude/pitch_deck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35915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TEXT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040880" y="2578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misspelled posts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063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15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0.00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F1-score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F1-score: 0.84 (−8 points)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informal, real-world patient language, Disease detection fell to zero. The informal test subset is small, so read this as a clear warning sign, not an exact number.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_deck/assets/pulse_faint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 rot="10800000">
            <a:off x="-914400" y="-1371600"/>
            <a:ext cx="640080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patients don't write like textbooks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65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SafeSignal struggles most on informal, misspelled patient language — which is how many real forum posts are written. This is the gap between a clean benchmark and real-world deployment.</a:t>
            </a:r>
            <a:endParaRPr lang="en-US" sz="1500" dirty="0"/>
          </a:p>
        </p:txBody>
      </p:sp>
      <p:pic>
        <p:nvPicPr>
          <p:cNvPr id="6" name="Image 1" descr="/home/claude/pitch_deck/assets/pul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63240"/>
            <a:ext cx="2011680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  +  transformer models (BioBERT) for stronger informal-text robustness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892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Sanobar Latif Shaikh  |  PRN: 25030421039  |  SafeSignal — CA3 NLP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Try it on any sentence</a:t>
            </a:r>
            <a:endParaRPr lang="en-US" sz="3200" dirty="0"/>
          </a:p>
        </p:txBody>
      </p:sp>
      <p:pic>
        <p:nvPicPr>
          <p:cNvPr id="4" name="Image 0" descr="/home/claude/pitch_deck/assets/pul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1828800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057400"/>
            <a:ext cx="621792" cy="621792"/>
          </a:xfrm>
          <a:prstGeom prst="ellipse">
            <a:avLst/>
          </a:prstGeom>
          <a:solidFill>
            <a:srgbClr val="1F8A70"/>
          </a:solidFill>
          <a:ln/>
        </p:spPr>
      </p:sp>
      <p:pic>
        <p:nvPicPr>
          <p:cNvPr id="6" name="Image 1" descr="/home/claude/pitch_deck/icons/file_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03704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72768" y="202082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 a patient post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72768" y="238658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English, casual style or Hinglish, for example: "I took Lipitor and started having severe muscle pain and memory problems."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621792" cy="62179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0" name="Image 2" descr="/home/claude/pitch_deck/icons/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621024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72768" y="343814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Click Detect Entities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572768" y="380390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highlights Drug, ADR, Disease, Symptom and Finding spans in colour and lists them in a table.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892040"/>
            <a:ext cx="621792" cy="621792"/>
          </a:xfrm>
          <a:prstGeom prst="ellipse">
            <a:avLst/>
          </a:prstGeom>
          <a:solidFill>
            <a:srgbClr val="153F38"/>
          </a:solidFill>
          <a:ln/>
        </p:spPr>
      </p:sp>
      <p:pic>
        <p:nvPicPr>
          <p:cNvPr id="14" name="Image 3" descr="/home/claude/pitch_deck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03834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72768" y="48554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 the limits too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572768" y="522122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drug that is not in the training data (for example Dolo): it is missed. Hindi input is translated to English first.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runs inside Google Colab, no separate web page needed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2026-09-27T18:17:03Z</dcterms:created>
  <dcterms:modified xsi:type="dcterms:W3CDTF">2026-09-27T18:17:03Z</dcterms:modified>
</cp:coreProperties>
</file>